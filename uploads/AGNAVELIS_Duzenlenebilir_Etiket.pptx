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5651500" cy="1800225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8" d="100"/>
          <a:sy n="208" d="100"/>
        </p:scale>
        <p:origin x="250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507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Editable wrap label. Finished size: 157 mm x 50 mm. Add 2–3 mm overlap only if the printer requires it. All text fields and graphic bands are separate editable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Editable top-cap sticker. Circular trim diameter: 45 mm. The slide canvas remains 157 mm x 50 mm so it can stay in the same editable PowerPoint/Canva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navy lower field">
            <a:extLst>
              <a:ext uri="{FF2B5EF4-FFF2-40B4-BE49-F238E27FC236}">
                <a16:creationId xmlns:a16="http://schemas.microsoft.com/office/drawing/2014/main" id="{514224BC-0CF4-44C3-9927-D90EDB9F4ECB}"/>
              </a:ext>
            </a:extLst>
          </p:cNvPr>
          <p:cNvSpPr>
            <a:spLocks noGrp="1"/>
          </p:cNvSpPr>
          <p:nvPr/>
        </p:nvSpPr>
        <p:spPr>
          <a:xfrm>
            <a:off x="-99537" y="1266824"/>
            <a:ext cx="5755678" cy="542925"/>
          </a:xfrm>
          <a:custGeom>
            <a:avLst/>
            <a:gdLst>
              <a:gd name="csX0" fmla="*/ 0 w 5755678"/>
              <a:gd name="csY0" fmla="*/ 0 h 542925"/>
              <a:gd name="csX1" fmla="*/ 5755678 w 5755678"/>
              <a:gd name="csY1" fmla="*/ 74266 h 542925"/>
              <a:gd name="csX2" fmla="*/ 5751037 w 5755678"/>
              <a:gd name="csY2" fmla="*/ 542925 h 542925"/>
              <a:gd name="csX3" fmla="*/ 0 w 5755678"/>
              <a:gd name="csY3" fmla="*/ 542925 h 542925"/>
              <a:gd name="csX4" fmla="*/ 0 w 5755678"/>
              <a:gd name="csY4" fmla="*/ 0 h 542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55678" h="542925">
                <a:moveTo>
                  <a:pt x="0" y="0"/>
                </a:moveTo>
                <a:lnTo>
                  <a:pt x="5755678" y="74266"/>
                </a:lnTo>
                <a:lnTo>
                  <a:pt x="5751037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solidFill>
            <a:srgbClr val="082D5A"/>
          </a:solidFill>
          <a:ln w="0">
            <a:noFill/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" name="Editable silver diagonal band">
            <a:extLst>
              <a:ext uri="{FF2B5EF4-FFF2-40B4-BE49-F238E27FC236}">
                <a16:creationId xmlns:a16="http://schemas.microsoft.com/office/drawing/2014/main" id="{3B8D9D87-27A9-4F92-99F7-3D445594D3C5}"/>
              </a:ext>
            </a:extLst>
          </p:cNvPr>
          <p:cNvSpPr>
            <a:spLocks noGrp="1"/>
          </p:cNvSpPr>
          <p:nvPr/>
        </p:nvSpPr>
        <p:spPr>
          <a:xfrm>
            <a:off x="-99538" y="1189577"/>
            <a:ext cx="5759947" cy="219075"/>
          </a:xfrm>
          <a:custGeom>
            <a:avLst/>
            <a:gdLst/>
            <a:ahLst/>
            <a:cxnLst/>
            <a:rect l="0" t="0" r="0" b="0"/>
            <a:pathLst>
              <a:path w="5652002" h="219075">
                <a:moveTo>
                  <a:pt x="0" y="0"/>
                </a:moveTo>
                <a:lnTo>
                  <a:pt x="5652002" y="152400"/>
                </a:lnTo>
                <a:lnTo>
                  <a:pt x="5652002" y="219075"/>
                </a:lnTo>
                <a:lnTo>
                  <a:pt x="0" y="76200"/>
                </a:lnTo>
                <a:close/>
              </a:path>
            </a:pathLst>
          </a:custGeom>
          <a:gradFill>
            <a:gsLst>
              <a:gs pos="0">
                <a:srgbClr val="8F969E"/>
              </a:gs>
              <a:gs pos="50000">
                <a:srgbClr val="F7F7F7"/>
              </a:gs>
              <a:gs pos="100000">
                <a:srgbClr val="A3AAB2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tr-TR"/>
          </a:p>
        </p:txBody>
      </p:sp>
      <p:pic>
        <p:nvPicPr>
          <p:cNvPr id="42" name="Resim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1279" y="114300"/>
            <a:ext cx="447092" cy="476250"/>
          </a:xfrm>
          <a:prstGeom prst="rect">
            <a:avLst/>
          </a:prstGeom>
        </p:spPr>
      </p:pic>
      <p:sp>
        <p:nvSpPr>
          <p:cNvPr id="5" name="Brand name AGNA">
            <a:extLst>
              <a:ext uri="{FF2B5EF4-FFF2-40B4-BE49-F238E27FC236}">
                <a16:creationId xmlns:a16="http://schemas.microsoft.com/office/drawing/2014/main" id="{2CCF3CB4-E07A-4A42-BBE4-0AEE7F5878AF}"/>
              </a:ext>
            </a:extLst>
          </p:cNvPr>
          <p:cNvSpPr>
            <a:spLocks noGrp="1"/>
          </p:cNvSpPr>
          <p:nvPr/>
        </p:nvSpPr>
        <p:spPr>
          <a:xfrm>
            <a:off x="714375" y="214313"/>
            <a:ext cx="639128" cy="2619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D5A"/>
                </a:solidFill>
                <a:latin typeface="Arial"/>
                <a:ea typeface="Arial"/>
                <a:cs typeface="Arial"/>
              </a:rPr>
              <a:t>AGNA</a:t>
            </a:r>
          </a:p>
        </p:txBody>
      </p:sp>
      <p:sp>
        <p:nvSpPr>
          <p:cNvPr id="6" name="Brand name VELIS">
            <a:extLst>
              <a:ext uri="{FF2B5EF4-FFF2-40B4-BE49-F238E27FC236}">
                <a16:creationId xmlns:a16="http://schemas.microsoft.com/office/drawing/2014/main" id="{033D765F-C724-4E3B-B8A8-4EE39B39A1E8}"/>
              </a:ext>
            </a:extLst>
          </p:cNvPr>
          <p:cNvSpPr>
            <a:spLocks noGrp="1"/>
          </p:cNvSpPr>
          <p:nvPr/>
        </p:nvSpPr>
        <p:spPr>
          <a:xfrm>
            <a:off x="1326261" y="214313"/>
            <a:ext cx="660083" cy="2619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0877D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7DB"/>
                </a:solidFill>
                <a:latin typeface="Arial"/>
                <a:ea typeface="Arial"/>
                <a:cs typeface="Arial"/>
              </a:rPr>
              <a:t>VELIS</a:t>
            </a:r>
          </a:p>
        </p:txBody>
      </p:sp>
      <p:sp>
        <p:nvSpPr>
          <p:cNvPr id="7" name="Product name">
            <a:extLst>
              <a:ext uri="{FF2B5EF4-FFF2-40B4-BE49-F238E27FC236}">
                <a16:creationId xmlns:a16="http://schemas.microsoft.com/office/drawing/2014/main" id="{5FD52F16-E76D-49EE-938A-6664EA143E12}"/>
              </a:ext>
            </a:extLst>
          </p:cNvPr>
          <p:cNvSpPr>
            <a:spLocks noGrp="1"/>
          </p:cNvSpPr>
          <p:nvPr/>
        </p:nvSpPr>
        <p:spPr>
          <a:xfrm>
            <a:off x="285750" y="552450"/>
            <a:ext cx="2266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8409" lnSpcReduction="10000"/>
          </a:bodyPr>
          <a:lstStyle/>
          <a:p>
            <a:pPr algn="l">
              <a:defRPr sz="1650" b="1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D5A"/>
                </a:solidFill>
                <a:latin typeface="Arial"/>
                <a:ea typeface="Arial"/>
                <a:cs typeface="Arial"/>
              </a:rPr>
              <a:t>Silver Nitrate</a:t>
            </a:r>
          </a:p>
          <a:p>
            <a:pPr algn="l">
              <a:defRPr sz="1650" b="1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D5A"/>
                </a:solidFill>
                <a:latin typeface="Arial"/>
                <a:ea typeface="Arial"/>
                <a:cs typeface="Arial"/>
              </a:rPr>
              <a:t>Applicator Sticks</a:t>
            </a:r>
          </a:p>
        </p:txBody>
      </p:sp>
      <p:sp>
        <p:nvSpPr>
          <p:cNvPr id="8" name="Product divider">
            <a:extLst>
              <a:ext uri="{FF2B5EF4-FFF2-40B4-BE49-F238E27FC236}">
                <a16:creationId xmlns:a16="http://schemas.microsoft.com/office/drawing/2014/main" id="{728002BF-3DDD-439C-ACED-4731DBA61A76}"/>
              </a:ext>
            </a:extLst>
          </p:cNvPr>
          <p:cNvSpPr>
            <a:spLocks noGrp="1"/>
          </p:cNvSpPr>
          <p:nvPr/>
        </p:nvSpPr>
        <p:spPr>
          <a:xfrm>
            <a:off x="285750" y="1028700"/>
            <a:ext cx="2190750" cy="0"/>
          </a:xfrm>
          <a:prstGeom prst="line">
            <a:avLst/>
          </a:prstGeom>
          <a:noFill/>
          <a:ln w="9525">
            <a:solidFill>
              <a:srgbClr val="0877D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Composition">
            <a:extLst>
              <a:ext uri="{FF2B5EF4-FFF2-40B4-BE49-F238E27FC236}">
                <a16:creationId xmlns:a16="http://schemas.microsoft.com/office/drawing/2014/main" id="{61DDE383-B4A1-4B39-B094-645103375463}"/>
              </a:ext>
            </a:extLst>
          </p:cNvPr>
          <p:cNvSpPr>
            <a:spLocks noGrp="1"/>
          </p:cNvSpPr>
          <p:nvPr/>
        </p:nvSpPr>
        <p:spPr>
          <a:xfrm>
            <a:off x="285750" y="1066800"/>
            <a:ext cx="23336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88" b="0">
                <a:solidFill>
                  <a:srgbClr val="0877D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0877DB"/>
                </a:solidFill>
                <a:latin typeface="Arial"/>
                <a:ea typeface="Arial"/>
                <a:cs typeface="Arial"/>
              </a:rPr>
              <a:t>75% Silver Nitrate / 25% Potassium Nitrate</a:t>
            </a:r>
          </a:p>
        </p:txBody>
      </p:sp>
      <p:sp>
        <p:nvSpPr>
          <p:cNvPr id="10" name="Left information divider">
            <a:extLst>
              <a:ext uri="{FF2B5EF4-FFF2-40B4-BE49-F238E27FC236}">
                <a16:creationId xmlns:a16="http://schemas.microsoft.com/office/drawing/2014/main" id="{7FA78C31-14AF-407A-863E-A1C36B845910}"/>
              </a:ext>
            </a:extLst>
          </p:cNvPr>
          <p:cNvSpPr>
            <a:spLocks noGrp="1"/>
          </p:cNvSpPr>
          <p:nvPr/>
        </p:nvSpPr>
        <p:spPr>
          <a:xfrm>
            <a:off x="2781300" y="114300"/>
            <a:ext cx="0" cy="1104900"/>
          </a:xfrm>
          <a:prstGeom prst="line">
            <a:avLst/>
          </a:prstGeom>
          <a:noFill/>
          <a:ln w="9525">
            <a:solidFill>
              <a:srgbClr val="3B78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Right information divider">
            <a:extLst>
              <a:ext uri="{FF2B5EF4-FFF2-40B4-BE49-F238E27FC236}">
                <a16:creationId xmlns:a16="http://schemas.microsoft.com/office/drawing/2014/main" id="{012E5D7E-8B66-4CD1-AD31-6A89A45E97B7}"/>
              </a:ext>
            </a:extLst>
          </p:cNvPr>
          <p:cNvSpPr>
            <a:spLocks noGrp="1"/>
          </p:cNvSpPr>
          <p:nvPr/>
        </p:nvSpPr>
        <p:spPr>
          <a:xfrm>
            <a:off x="4400550" y="114300"/>
            <a:ext cx="0" cy="1114425"/>
          </a:xfrm>
          <a:prstGeom prst="line">
            <a:avLst/>
          </a:prstGeom>
          <a:noFill/>
          <a:ln w="9525">
            <a:solidFill>
              <a:srgbClr val="3B78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C179FDBF-99E8-462E-BFA2-8371DD93D3A7}"/>
              </a:ext>
            </a:extLst>
          </p:cNvPr>
          <p:cNvSpPr>
            <a:spLocks noGrp="1"/>
          </p:cNvSpPr>
          <p:nvPr/>
        </p:nvSpPr>
        <p:spPr>
          <a:xfrm>
            <a:off x="4502814" y="-20210"/>
            <a:ext cx="981075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555" b="0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endParaRPr sz="555" b="0" dirty="0">
              <a:solidFill>
                <a:srgbClr val="082D5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AA63D33D-C1C3-4566-B525-C858429A6090}"/>
              </a:ext>
            </a:extLst>
          </p:cNvPr>
          <p:cNvSpPr>
            <a:spLocks noGrp="1"/>
          </p:cNvSpPr>
          <p:nvPr/>
        </p:nvSpPr>
        <p:spPr>
          <a:xfrm>
            <a:off x="4579152" y="1420049"/>
            <a:ext cx="901197" cy="1586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l">
              <a:defRPr sz="630" b="1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sz="63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Genco </a:t>
            </a:r>
            <a:r>
              <a:rPr sz="630" b="1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Tıbbi</a:t>
            </a:r>
            <a:r>
              <a:rPr sz="63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sz="630" b="1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Cihazlar</a:t>
            </a:r>
            <a:endParaRPr sz="63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algn="l">
              <a:defRPr sz="630" b="1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sz="63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San. Tic. Ltd. Şti.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1B531217-708A-4DDA-BA80-20FDA1537F71}"/>
              </a:ext>
            </a:extLst>
          </p:cNvPr>
          <p:cNvSpPr>
            <a:spLocks noGrp="1"/>
          </p:cNvSpPr>
          <p:nvPr/>
        </p:nvSpPr>
        <p:spPr>
          <a:xfrm>
            <a:off x="4723740" y="238491"/>
            <a:ext cx="828675" cy="142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540" b="0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sz="540" b="0" dirty="0">
                <a:solidFill>
                  <a:srgbClr val="082D5A"/>
                </a:solidFill>
                <a:latin typeface="Arial"/>
                <a:ea typeface="Arial"/>
                <a:cs typeface="Arial"/>
              </a:rPr>
              <a:t>Store in a dry place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BDE11D20-533C-44F2-A391-45961B33B6FF}"/>
              </a:ext>
            </a:extLst>
          </p:cNvPr>
          <p:cNvSpPr>
            <a:spLocks noGrp="1"/>
          </p:cNvSpPr>
          <p:nvPr/>
        </p:nvSpPr>
        <p:spPr>
          <a:xfrm>
            <a:off x="4723741" y="579607"/>
            <a:ext cx="828675" cy="142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540" b="0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sz="540" b="0" dirty="0">
                <a:solidFill>
                  <a:srgbClr val="082D5A"/>
                </a:solidFill>
                <a:latin typeface="Arial"/>
                <a:ea typeface="Arial"/>
                <a:cs typeface="Arial"/>
              </a:rPr>
              <a:t>Protect from light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C3A3F21C-7850-4C7B-96DE-D9C4AD1A9EFF}"/>
              </a:ext>
            </a:extLst>
          </p:cNvPr>
          <p:cNvSpPr>
            <a:spLocks noGrp="1"/>
          </p:cNvSpPr>
          <p:nvPr/>
        </p:nvSpPr>
        <p:spPr>
          <a:xfrm>
            <a:off x="4723740" y="726284"/>
            <a:ext cx="8286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540" b="0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sz="540" b="0" dirty="0">
                <a:solidFill>
                  <a:srgbClr val="082D5A"/>
                </a:solidFill>
                <a:latin typeface="Arial"/>
                <a:ea typeface="Arial"/>
                <a:cs typeface="Arial"/>
              </a:rPr>
              <a:t>Consult instructions</a:t>
            </a:r>
          </a:p>
          <a:p>
            <a:pPr algn="l">
              <a:defRPr sz="540" b="0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sz="540" b="0" dirty="0">
                <a:solidFill>
                  <a:srgbClr val="082D5A"/>
                </a:solidFill>
                <a:latin typeface="Arial"/>
                <a:ea typeface="Arial"/>
                <a:cs typeface="Arial"/>
              </a:rPr>
              <a:t>for use</a:t>
            </a:r>
          </a:p>
        </p:txBody>
      </p:sp>
      <p:sp>
        <p:nvSpPr>
          <p:cNvPr id="30" name="Editable feature icon">
            <a:extLst>
              <a:ext uri="{FF2B5EF4-FFF2-40B4-BE49-F238E27FC236}">
                <a16:creationId xmlns:a16="http://schemas.microsoft.com/office/drawing/2014/main" id="{2AF3B51F-01C4-4473-8E8C-3F38E59C2AF0}"/>
              </a:ext>
            </a:extLst>
          </p:cNvPr>
          <p:cNvSpPr>
            <a:spLocks noGrp="1"/>
          </p:cNvSpPr>
          <p:nvPr/>
        </p:nvSpPr>
        <p:spPr>
          <a:xfrm>
            <a:off x="257175" y="1438275"/>
            <a:ext cx="161925" cy="161925"/>
          </a:xfrm>
          <a:prstGeom prst="ellipse">
            <a:avLst/>
          </a:prstGeom>
          <a:noFill/>
          <a:ln w="1238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9E765F0D-3816-4655-BEB3-195B1A1BB023}"/>
              </a:ext>
            </a:extLst>
          </p:cNvPr>
          <p:cNvSpPr>
            <a:spLocks noGrp="1"/>
          </p:cNvSpPr>
          <p:nvPr/>
        </p:nvSpPr>
        <p:spPr>
          <a:xfrm>
            <a:off x="276225" y="1457325"/>
            <a:ext cx="123825" cy="123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5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9B5B8281-C0DD-4BEF-A770-B8DAD90527EC}"/>
              </a:ext>
            </a:extLst>
          </p:cNvPr>
          <p:cNvSpPr>
            <a:spLocks noGrp="1"/>
          </p:cNvSpPr>
          <p:nvPr/>
        </p:nvSpPr>
        <p:spPr>
          <a:xfrm>
            <a:off x="466725" y="1428750"/>
            <a:ext cx="7239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54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 I</a:t>
            </a:r>
          </a:p>
          <a:p>
            <a:pPr algn="l">
              <a:defRPr sz="54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Medical Device</a:t>
            </a:r>
          </a:p>
        </p:txBody>
      </p:sp>
      <p:pic>
        <p:nvPicPr>
          <p:cNvPr id="40" name="Resim 39">
            <a:extLst>
              <a:ext uri="{FF2B5EF4-FFF2-40B4-BE49-F238E27FC236}">
                <a16:creationId xmlns:a16="http://schemas.microsoft.com/office/drawing/2014/main" id="{FC485DC7-5CDF-80A3-63B1-D944E8223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350" y="555627"/>
            <a:ext cx="191391" cy="162392"/>
          </a:xfrm>
          <a:prstGeom prst="rect">
            <a:avLst/>
          </a:prstGeom>
        </p:spPr>
      </p:pic>
      <p:pic>
        <p:nvPicPr>
          <p:cNvPr id="41" name="Picture 250149052">
            <a:extLst>
              <a:ext uri="{FF2B5EF4-FFF2-40B4-BE49-F238E27FC236}">
                <a16:creationId xmlns:a16="http://schemas.microsoft.com/office/drawing/2014/main" id="{A9326114-0C2A-3690-E3E0-4BA6213BD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7813" y="1042988"/>
            <a:ext cx="250825" cy="250825"/>
          </a:xfrm>
          <a:prstGeom prst="rect">
            <a:avLst/>
          </a:prstGeom>
        </p:spPr>
      </p:pic>
      <p:sp>
        <p:nvSpPr>
          <p:cNvPr id="44" name="Dikdörtgen 43">
            <a:extLst>
              <a:ext uri="{FF2B5EF4-FFF2-40B4-BE49-F238E27FC236}">
                <a16:creationId xmlns:a16="http://schemas.microsoft.com/office/drawing/2014/main" id="{6B9A190E-A23A-9279-8A30-2CBADBAA7046}"/>
              </a:ext>
            </a:extLst>
          </p:cNvPr>
          <p:cNvSpPr>
            <a:spLocks noGrp="1"/>
          </p:cNvSpPr>
          <p:nvPr/>
        </p:nvSpPr>
        <p:spPr>
          <a:xfrm>
            <a:off x="3086101" y="1086154"/>
            <a:ext cx="828675" cy="142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540" b="0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lang="tr-TR" sz="540" b="0" dirty="0">
                <a:solidFill>
                  <a:srgbClr val="082D5A"/>
                </a:solidFill>
                <a:latin typeface="Arial"/>
                <a:ea typeface="Arial"/>
                <a:cs typeface="Arial"/>
              </a:rPr>
              <a:t>GNS7525</a:t>
            </a:r>
            <a:endParaRPr sz="540" b="0" dirty="0">
              <a:solidFill>
                <a:srgbClr val="082D5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5" name="Resim 44">
            <a:extLst>
              <a:ext uri="{FF2B5EF4-FFF2-40B4-BE49-F238E27FC236}">
                <a16:creationId xmlns:a16="http://schemas.microsoft.com/office/drawing/2014/main" id="{BF6B116F-0F2A-0F9F-CCD3-689E30C8C3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350" y="70075"/>
            <a:ext cx="167578" cy="177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Resim 46">
            <a:extLst>
              <a:ext uri="{FF2B5EF4-FFF2-40B4-BE49-F238E27FC236}">
                <a16:creationId xmlns:a16="http://schemas.microsoft.com/office/drawing/2014/main" id="{C2DEE194-77BB-3FF4-A336-E44B23FAA11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371765" y="1419378"/>
            <a:ext cx="167281" cy="139401"/>
          </a:xfrm>
          <a:prstGeom prst="rect">
            <a:avLst/>
          </a:prstGeom>
        </p:spPr>
      </p:pic>
      <p:sp>
        <p:nvSpPr>
          <p:cNvPr id="51" name="Dikdörtgen 50">
            <a:extLst>
              <a:ext uri="{FF2B5EF4-FFF2-40B4-BE49-F238E27FC236}">
                <a16:creationId xmlns:a16="http://schemas.microsoft.com/office/drawing/2014/main" id="{3C533539-5A34-5871-210B-867DFD1273D9}"/>
              </a:ext>
            </a:extLst>
          </p:cNvPr>
          <p:cNvSpPr>
            <a:spLocks noGrp="1"/>
          </p:cNvSpPr>
          <p:nvPr/>
        </p:nvSpPr>
        <p:spPr>
          <a:xfrm>
            <a:off x="4729471" y="93405"/>
            <a:ext cx="828675" cy="142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540" b="0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lang="tr-TR" sz="540" b="0" dirty="0" err="1">
                <a:solidFill>
                  <a:srgbClr val="082D5A"/>
                </a:solidFill>
                <a:latin typeface="Arial"/>
                <a:ea typeface="Arial"/>
                <a:cs typeface="Arial"/>
              </a:rPr>
              <a:t>Non</a:t>
            </a:r>
            <a:r>
              <a:rPr lang="tr-TR" sz="540" dirty="0">
                <a:solidFill>
                  <a:srgbClr val="082D5A"/>
                </a:solidFill>
                <a:latin typeface="Arial"/>
                <a:ea typeface="Arial"/>
                <a:cs typeface="Arial"/>
              </a:rPr>
              <a:t> sterile</a:t>
            </a:r>
            <a:endParaRPr sz="540" b="0" dirty="0">
              <a:solidFill>
                <a:srgbClr val="082D5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3" name="Resim 52">
            <a:extLst>
              <a:ext uri="{FF2B5EF4-FFF2-40B4-BE49-F238E27FC236}">
                <a16:creationId xmlns:a16="http://schemas.microsoft.com/office/drawing/2014/main" id="{B4B47AB1-EC2B-DDE1-6A38-B4ED96AA66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8188" y="239602"/>
            <a:ext cx="135901" cy="146355"/>
          </a:xfrm>
          <a:prstGeom prst="rect">
            <a:avLst/>
          </a:prstGeom>
        </p:spPr>
      </p:pic>
      <p:pic>
        <p:nvPicPr>
          <p:cNvPr id="55" name="Resim 54">
            <a:extLst>
              <a:ext uri="{FF2B5EF4-FFF2-40B4-BE49-F238E27FC236}">
                <a16:creationId xmlns:a16="http://schemas.microsoft.com/office/drawing/2014/main" id="{B9EC598D-A11A-4A9B-AECA-A57D9181AF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6714" y="423951"/>
            <a:ext cx="148877" cy="117861"/>
          </a:xfrm>
          <a:prstGeom prst="rect">
            <a:avLst/>
          </a:prstGeom>
        </p:spPr>
      </p:pic>
      <p:sp>
        <p:nvSpPr>
          <p:cNvPr id="57" name="Dikdörtgen 56">
            <a:extLst>
              <a:ext uri="{FF2B5EF4-FFF2-40B4-BE49-F238E27FC236}">
                <a16:creationId xmlns:a16="http://schemas.microsoft.com/office/drawing/2014/main" id="{A3A2EC7C-2152-C9AD-CA9B-347B7B4EF0F5}"/>
              </a:ext>
            </a:extLst>
          </p:cNvPr>
          <p:cNvSpPr>
            <a:spLocks noGrp="1"/>
          </p:cNvSpPr>
          <p:nvPr/>
        </p:nvSpPr>
        <p:spPr>
          <a:xfrm>
            <a:off x="4723741" y="405778"/>
            <a:ext cx="828675" cy="142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540" b="0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lang="tr-TR" sz="540" b="0" dirty="0">
                <a:solidFill>
                  <a:srgbClr val="082D5A"/>
                </a:solidFill>
                <a:latin typeface="Arial"/>
                <a:ea typeface="Arial"/>
                <a:cs typeface="Arial"/>
              </a:rPr>
              <a:t>Do not re-</a:t>
            </a:r>
            <a:r>
              <a:rPr lang="tr-TR" sz="540" b="0" dirty="0" err="1">
                <a:solidFill>
                  <a:srgbClr val="082D5A"/>
                </a:solidFill>
                <a:latin typeface="Arial"/>
                <a:ea typeface="Arial"/>
                <a:cs typeface="Arial"/>
              </a:rPr>
              <a:t>use</a:t>
            </a:r>
            <a:endParaRPr sz="540" b="0" dirty="0">
              <a:solidFill>
                <a:srgbClr val="082D5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CA1C6F96-BD05-5DBA-0A05-BA28F9FFCA0D}"/>
              </a:ext>
            </a:extLst>
          </p:cNvPr>
          <p:cNvSpPr>
            <a:spLocks noGrp="1"/>
          </p:cNvSpPr>
          <p:nvPr/>
        </p:nvSpPr>
        <p:spPr>
          <a:xfrm>
            <a:off x="4579151" y="1600200"/>
            <a:ext cx="901197" cy="1586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630" b="1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endParaRPr sz="63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DFC2E8C9-697E-117D-6CC0-E1D64072C81B}"/>
              </a:ext>
            </a:extLst>
          </p:cNvPr>
          <p:cNvSpPr txBox="1"/>
          <p:nvPr/>
        </p:nvSpPr>
        <p:spPr>
          <a:xfrm>
            <a:off x="4510441" y="1540435"/>
            <a:ext cx="13327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" b="1" dirty="0">
                <a:solidFill>
                  <a:schemeClr val="bg1"/>
                </a:solidFill>
              </a:rPr>
              <a:t>MTK sitesi Meriç mahallesi 5746/5 sokak No. 3 Bornova/</a:t>
            </a:r>
            <a:r>
              <a:rPr lang="tr-TR" sz="400" b="1" dirty="0" err="1">
                <a:solidFill>
                  <a:schemeClr val="bg1"/>
                </a:solidFill>
              </a:rPr>
              <a:t>Izmir</a:t>
            </a:r>
            <a:r>
              <a:rPr lang="tr-TR" sz="400" b="1" dirty="0">
                <a:solidFill>
                  <a:schemeClr val="bg1"/>
                </a:solidFill>
              </a:rPr>
              <a:t>/TURKEY</a:t>
            </a:r>
          </a:p>
        </p:txBody>
      </p:sp>
      <p:pic>
        <p:nvPicPr>
          <p:cNvPr id="13" name="Picture 250149059">
            <a:extLst>
              <a:ext uri="{FF2B5EF4-FFF2-40B4-BE49-F238E27FC236}">
                <a16:creationId xmlns:a16="http://schemas.microsoft.com/office/drawing/2014/main" id="{A2A2834F-C5B8-1F18-27BD-8507E8E6FB8E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25944" r="6633" b="19259"/>
          <a:stretch>
            <a:fillRect/>
          </a:stretch>
        </p:blipFill>
        <p:spPr bwMode="auto">
          <a:xfrm>
            <a:off x="2465495" y="1085849"/>
            <a:ext cx="294231" cy="1720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C2B00261-1AA9-9DD7-C4E4-0BCD4CC471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8748" y="740368"/>
            <a:ext cx="211577" cy="144378"/>
          </a:xfrm>
          <a:prstGeom prst="rect">
            <a:avLst/>
          </a:prstGeom>
        </p:spPr>
      </p:pic>
      <p:pic>
        <p:nvPicPr>
          <p:cNvPr id="58" name="EAN-13 barcode 8680614811203" descr="ean13-868061481120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1187" y="1010289"/>
            <a:ext cx="778954" cy="270921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35A58B62-CEB3-D094-071A-DF94FEA65F7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33435" y="929125"/>
            <a:ext cx="373270" cy="37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19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5 mm circular trim boundary">
            <a:extLst>
              <a:ext uri="{FF2B5EF4-FFF2-40B4-BE49-F238E27FC236}">
                <a16:creationId xmlns:a16="http://schemas.microsoft.com/office/drawing/2014/main" id="{581662E5-C85F-4BD2-B3AB-1383D34B9F0E}"/>
              </a:ext>
            </a:extLst>
          </p:cNvPr>
          <p:cNvSpPr>
            <a:spLocks noGrp="1"/>
          </p:cNvSpPr>
          <p:nvPr/>
        </p:nvSpPr>
        <p:spPr>
          <a:xfrm>
            <a:off x="2016000" y="89997"/>
            <a:ext cx="1620002" cy="162000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7BEC6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2" name="Editable cap navy lower field">
            <a:extLst>
              <a:ext uri="{FF2B5EF4-FFF2-40B4-BE49-F238E27FC236}">
                <a16:creationId xmlns:a16="http://schemas.microsoft.com/office/drawing/2014/main" id="{69DBA4CA-2510-44AA-8352-0479E94AF870}"/>
              </a:ext>
            </a:extLst>
          </p:cNvPr>
          <p:cNvSpPr>
            <a:spLocks noGrp="1"/>
          </p:cNvSpPr>
          <p:nvPr/>
        </p:nvSpPr>
        <p:spPr>
          <a:xfrm>
            <a:off x="2206249" y="1247661"/>
            <a:ext cx="1239002" cy="314325"/>
          </a:xfrm>
          <a:custGeom>
            <a:avLst/>
            <a:gdLst/>
            <a:ahLst/>
            <a:cxnLst/>
            <a:rect l="0" t="0" r="0" b="0"/>
            <a:pathLst>
              <a:path w="1239002" h="314325">
                <a:moveTo>
                  <a:pt x="0" y="76200"/>
                </a:moveTo>
                <a:lnTo>
                  <a:pt x="1239002" y="0"/>
                </a:lnTo>
                <a:lnTo>
                  <a:pt x="1048502" y="314325"/>
                </a:lnTo>
                <a:lnTo>
                  <a:pt x="190500" y="314325"/>
                </a:lnTo>
                <a:close/>
              </a:path>
            </a:pathLst>
          </a:custGeom>
          <a:solidFill>
            <a:srgbClr val="082D5A"/>
          </a:solidFill>
          <a:ln w="0"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3" name="Editable cap silver band">
            <a:extLst>
              <a:ext uri="{FF2B5EF4-FFF2-40B4-BE49-F238E27FC236}">
                <a16:creationId xmlns:a16="http://schemas.microsoft.com/office/drawing/2014/main" id="{DFA733C0-9C62-4D52-BECA-D570EDF03D3F}"/>
              </a:ext>
            </a:extLst>
          </p:cNvPr>
          <p:cNvSpPr>
            <a:spLocks noGrp="1"/>
          </p:cNvSpPr>
          <p:nvPr/>
        </p:nvSpPr>
        <p:spPr>
          <a:xfrm>
            <a:off x="2158875" y="1163223"/>
            <a:ext cx="1353302" cy="114300"/>
          </a:xfrm>
          <a:custGeom>
            <a:avLst/>
            <a:gdLst/>
            <a:ahLst/>
            <a:cxnLst/>
            <a:rect l="0" t="0" r="0" b="0"/>
            <a:pathLst>
              <a:path w="1353302" h="114300">
                <a:moveTo>
                  <a:pt x="0" y="57150"/>
                </a:moveTo>
                <a:lnTo>
                  <a:pt x="1353302" y="0"/>
                </a:lnTo>
                <a:lnTo>
                  <a:pt x="1296152" y="66675"/>
                </a:lnTo>
                <a:lnTo>
                  <a:pt x="57150" y="114300"/>
                </a:lnTo>
                <a:close/>
              </a:path>
            </a:pathLst>
          </a:custGeom>
          <a:solidFill>
            <a:srgbClr val="B8BEC6"/>
          </a:solidFill>
          <a:ln w="0">
            <a:noFill/>
          </a:ln>
        </p:spPr>
        <p:txBody>
          <a:bodyPr/>
          <a:lstStyle/>
          <a:p>
            <a:endParaRPr lang="tr-TR"/>
          </a:p>
        </p:txBody>
      </p:sp>
      <p:pic>
        <p:nvPicPr>
          <p:cNvPr id="13" name="Resi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40348" y="290023"/>
            <a:ext cx="268255" cy="285750"/>
          </a:xfrm>
          <a:prstGeom prst="rect">
            <a:avLst/>
          </a:prstGeom>
        </p:spPr>
      </p:pic>
      <p:sp>
        <p:nvSpPr>
          <p:cNvPr id="5" name="Brand name AGNA">
            <a:extLst>
              <a:ext uri="{FF2B5EF4-FFF2-40B4-BE49-F238E27FC236}">
                <a16:creationId xmlns:a16="http://schemas.microsoft.com/office/drawing/2014/main" id="{06C6679A-48DF-4D70-9A81-F68751E52A94}"/>
              </a:ext>
            </a:extLst>
          </p:cNvPr>
          <p:cNvSpPr>
            <a:spLocks noGrp="1"/>
          </p:cNvSpPr>
          <p:nvPr/>
        </p:nvSpPr>
        <p:spPr>
          <a:xfrm>
            <a:off x="2588776" y="350030"/>
            <a:ext cx="392192" cy="1571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13" b="1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sz="1013" b="1" dirty="0">
                <a:solidFill>
                  <a:srgbClr val="082D5A"/>
                </a:solidFill>
                <a:latin typeface="Arial"/>
                <a:ea typeface="Arial"/>
                <a:cs typeface="Arial"/>
              </a:rPr>
              <a:t>AGNA</a:t>
            </a:r>
          </a:p>
        </p:txBody>
      </p:sp>
      <p:sp>
        <p:nvSpPr>
          <p:cNvPr id="6" name="Brand name VELIS">
            <a:extLst>
              <a:ext uri="{FF2B5EF4-FFF2-40B4-BE49-F238E27FC236}">
                <a16:creationId xmlns:a16="http://schemas.microsoft.com/office/drawing/2014/main" id="{40DB3780-FEF4-43E9-BDFE-A18E5B2CE5AF}"/>
              </a:ext>
            </a:extLst>
          </p:cNvPr>
          <p:cNvSpPr>
            <a:spLocks noGrp="1"/>
          </p:cNvSpPr>
          <p:nvPr/>
        </p:nvSpPr>
        <p:spPr>
          <a:xfrm>
            <a:off x="2964251" y="350030"/>
            <a:ext cx="405051" cy="1571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13" b="1">
                <a:solidFill>
                  <a:srgbClr val="0877D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877DB"/>
                </a:solidFill>
                <a:latin typeface="Arial"/>
                <a:ea typeface="Arial"/>
                <a:cs typeface="Arial"/>
              </a:rPr>
              <a:t>VELIS</a:t>
            </a:r>
          </a:p>
        </p:txBody>
      </p:sp>
      <p:sp>
        <p:nvSpPr>
          <p:cNvPr id="8" name="Cap product name">
            <a:extLst>
              <a:ext uri="{FF2B5EF4-FFF2-40B4-BE49-F238E27FC236}">
                <a16:creationId xmlns:a16="http://schemas.microsoft.com/office/drawing/2014/main" id="{DA69CEC1-ECF4-45A0-A267-71E41ED53AAA}"/>
              </a:ext>
            </a:extLst>
          </p:cNvPr>
          <p:cNvSpPr>
            <a:spLocks noGrp="1"/>
          </p:cNvSpPr>
          <p:nvPr/>
        </p:nvSpPr>
        <p:spPr>
          <a:xfrm>
            <a:off x="2292225" y="576148"/>
            <a:ext cx="108660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9554"/>
          </a:bodyPr>
          <a:lstStyle/>
          <a:p>
            <a:pPr algn="ctr">
              <a:defRPr sz="1050" b="1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082D5A"/>
                </a:solidFill>
                <a:latin typeface="Arial"/>
                <a:ea typeface="Arial"/>
                <a:cs typeface="Arial"/>
              </a:rPr>
              <a:t>Silver Nitrate</a:t>
            </a:r>
          </a:p>
          <a:p>
            <a:pPr algn="ctr">
              <a:defRPr sz="1050" b="1">
                <a:solidFill>
                  <a:srgbClr val="082D5A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082D5A"/>
                </a:solidFill>
                <a:latin typeface="Arial"/>
                <a:ea typeface="Arial"/>
                <a:cs typeface="Arial"/>
              </a:rPr>
              <a:t>Applicator Sticks</a:t>
            </a:r>
          </a:p>
        </p:txBody>
      </p:sp>
      <p:sp>
        <p:nvSpPr>
          <p:cNvPr id="9" name="Cap composition">
            <a:extLst>
              <a:ext uri="{FF2B5EF4-FFF2-40B4-BE49-F238E27FC236}">
                <a16:creationId xmlns:a16="http://schemas.microsoft.com/office/drawing/2014/main" id="{BC78BC36-DFA7-48A9-B268-DB7D1E6DE070}"/>
              </a:ext>
            </a:extLst>
          </p:cNvPr>
          <p:cNvSpPr>
            <a:spLocks noGrp="1"/>
          </p:cNvSpPr>
          <p:nvPr/>
        </p:nvSpPr>
        <p:spPr>
          <a:xfrm>
            <a:off x="2275828" y="919048"/>
            <a:ext cx="1105652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38" b="0">
                <a:solidFill>
                  <a:srgbClr val="0877DB"/>
                </a:solidFill>
                <a:latin typeface="Arial"/>
                <a:ea typeface="Arial"/>
                <a:cs typeface="Arial"/>
              </a:defRPr>
            </a:pPr>
            <a:r>
              <a:rPr sz="638" b="0" dirty="0">
                <a:solidFill>
                  <a:srgbClr val="0877DB"/>
                </a:solidFill>
                <a:latin typeface="Arial"/>
                <a:ea typeface="Arial"/>
                <a:cs typeface="Arial"/>
              </a:rPr>
              <a:t>75% Silver Nitrate /</a:t>
            </a:r>
          </a:p>
          <a:p>
            <a:pPr algn="ctr">
              <a:defRPr sz="638" b="0">
                <a:solidFill>
                  <a:srgbClr val="0877DB"/>
                </a:solidFill>
                <a:latin typeface="Arial"/>
                <a:ea typeface="Arial"/>
                <a:cs typeface="Arial"/>
              </a:defRPr>
            </a:pPr>
            <a:r>
              <a:rPr sz="638" b="0" dirty="0">
                <a:solidFill>
                  <a:srgbClr val="0877DB"/>
                </a:solidFill>
                <a:latin typeface="Arial"/>
                <a:ea typeface="Arial"/>
                <a:cs typeface="Arial"/>
              </a:rPr>
              <a:t>25% Potassium Nitrate</a:t>
            </a:r>
          </a:p>
        </p:txBody>
      </p:sp>
    </p:spTree>
    <p:extLst>
      <p:ext uri="{BB962C8B-B14F-4D97-AF65-F5344CB8AC3E}">
        <p14:creationId xmlns:p14="http://schemas.microsoft.com/office/powerpoint/2010/main" val="15251191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146</Words>
  <Application>Microsoft Office PowerPoint</Application>
  <DocSecurity>0</DocSecurity>
  <PresentationFormat>Özel</PresentationFormat>
  <Paragraphs>26</Paragraphs>
  <Slides>2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4" baseType="lpstr">
      <vt:lpstr>Arial</vt:lpstr>
      <vt:lpstr>ChatGPT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Adnan Tuncdamar</cp:lastModifiedBy>
  <cp:revision>2</cp:revision>
  <dcterms:created xsi:type="dcterms:W3CDTF">2026-09-09T16:38:39Z</dcterms:created>
  <dcterms:modified xsi:type="dcterms:W3CDTF">2026-09-12T08:38:21Z</dcterms:modified>
</cp:coreProperties>
</file>